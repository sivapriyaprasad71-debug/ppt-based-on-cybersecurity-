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bd21024-7d78-4e53-f01d-63e09e3ece74}">
          <p14:sldIdLst>
            <p14:sldId id="256"/>
          </p14:sldIdLst>
        </p14:section>
        <p14:section name="Overview" id="{d85283d7-faf4-dd70-c511-5134f7b17474}">
          <p14:sldIdLst>
            <p14:sldId id="257"/>
          </p14:sldIdLst>
        </p14:section>
        <p14:section name="Healthcare Access" id="{6099bd29-716e-9579-527c-977fb7f66459}">
          <p14:sldIdLst>
            <p14:sldId id="258"/>
          </p14:sldIdLst>
        </p14:section>
        <p14:section name="Traffic and Road Safety" id="{f6e88b49-3160-4e51-f15d-50c4cc4b06af}">
          <p14:sldIdLst>
            <p14:sldId id="259"/>
          </p14:sldIdLst>
        </p14:section>
        <p14:section name="Food and Agriculture" id="{c1ba9240-a89e-2728-145e-fad5765baec4}">
          <p14:sldIdLst>
            <p14:sldId id="260"/>
          </p14:sldIdLst>
        </p14:section>
        <p14:section name="Clean Energy and Climate" id="{a9423b0c-c6fe-4eea-8912-cdceb40de074}">
          <p14:sldIdLst>
            <p14:sldId id="261"/>
          </p14:sldIdLst>
        </p14:section>
        <p14:section name="Cybersecurity and Privacy" id="{f98191d7-8880-c19a-f21e-d8d8c286c073}">
          <p14:sldIdLst>
            <p14:sldId id="262"/>
          </p14:sldIdLst>
        </p14:section>
        <p14:section name="Education for Everyone" id="{641c1330-06ed-df93-d4b6-1531ae3aa411}">
          <p14:sldIdLst>
            <p14:sldId id="263"/>
          </p14:sldIdLst>
        </p14:section>
        <p14:section name="Disaster Management" id="{56390a5f-44b6-53d1-e76d-e6bd96c59364}">
          <p14:sldIdLst>
            <p14:sldId id="264"/>
          </p14:sldIdLst>
        </p14:section>
        <p14:section name="Closing" id="{377342d1-9e42-27f9-f777-74ff9570cf8a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we look at everyday problems and the technology that solves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Healthcare Access. Problem: Millions live far from a hospital, and diseases are often caught too late to treat easily. Solution: Telemedicine apps, wearable sensors and AI that screens X-rays and scans for early warning signs. Impact: Faster diagnosis, care reaching remote villages, fewer emergencies.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Traffic and Road Safety. Problem: Congestion wastes time and fuel, and road accidents cost lives every day. Solution: Smart traffic signals using sensors and AI, GPS navigation, and driver-assist systems. Impact: Shorter commutes, lower emissions, safer roads.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Food and Agriculture. Problem: Farmers face unpredictable weather, crop disease and wasted water. Solution: Drones, soil sensors, satellite imagery and apps that advise on crops and irrigation. Impact: Higher yields, less water and fertilizer used, better farmer income.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Clean Energy and Climate. Problem: Fossil fuels drive climate change while power demand keeps growing. Solution: Solar and wind power, battery storage, smart grids and energy-saving IoT devices. Impact: Lower carbon emissions and reliable, affordable electricity.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Cybersecurity and Privacy. Problem: Phishing, ransomware and data leaks put personal and business information at risk. Solution: Encryption, multi-factor authentication, firewalls and AI-based threat detection. Impact: Protected identities, safer online payments, greater digital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Education for Everyone. Problem: Many students lack good teachers, books or schools nearby. Solution: E-learning platforms, recorded lectures, adaptive learning software and low-cost devices. Impact: Learning anywhere, at each student's own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Disaster Management. Problem: Floods, cyclones and earthquakes strike with little warning and cause heavy loss. Solution: Satellite and sensor-based early warning, mapping tools, and mobile alerts and rescue drones. Impact: Timely evacuation, quicker rescue, and lives and property saved.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Questions are welcome.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78638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elcom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731520" cy="731520"/>
          </a:xfrm>
          <a:prstGeom prst="rect">
            <a:avLst/>
          </a:prstGeom>
        </p:spPr>
      </p:pic>
      <p:sp>
        <p:nvSpPr>
          <p:cNvPr id="3" name="Welcome label"/>
          <p:cNvSpPr txBox="1"/>
          <p:nvPr/>
        </p:nvSpPr>
        <p:spPr>
          <a:xfrm>
            <a:off x="1554480" y="457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Welcome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Real-Life Problems That Require Technical Solutions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2926080"/>
            <a:ext cx="786384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Presented by Sivapriya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Why Technical Problems Matter</a:t>
            </a:r>
            <a:endParaRPr lang="en-US" sz="3600" dirty="0"/>
          </a:p>
        </p:txBody>
      </p:sp>
      <p:sp>
        <p:nvSpPr>
          <p:cNvPr id="3" name="Intro"/>
          <p:cNvSpPr txBox="1"/>
          <p:nvPr/>
        </p:nvSpPr>
        <p:spPr>
          <a:xfrm>
            <a:off x="548640" y="11887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Many everyday challenges cannot be solved by effort alone. They need engineering, data and software. We will look at seven areas:</a:t>
            </a:r>
            <a:endParaRPr lang="en-US" sz="1600" dirty="0"/>
          </a:p>
        </p:txBody>
      </p:sp>
      <p:sp>
        <p:nvSpPr>
          <p:cNvPr id="4" name="Card Healthcare"/>
          <p:cNvSpPr/>
          <p:nvPr/>
        </p:nvSpPr>
        <p:spPr>
          <a:xfrm>
            <a:off x="640080" y="2011680"/>
            <a:ext cx="18288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5" name="Circle Healthcare"/>
          <p:cNvSpPr/>
          <p:nvPr/>
        </p:nvSpPr>
        <p:spPr>
          <a:xfrm>
            <a:off x="1280160" y="21488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 Healthcar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2267712"/>
            <a:ext cx="310896" cy="310896"/>
          </a:xfrm>
          <a:prstGeom prst="rect">
            <a:avLst/>
          </a:prstGeom>
        </p:spPr>
      </p:pic>
      <p:sp>
        <p:nvSpPr>
          <p:cNvPr id="7" name="Label Healthcare"/>
          <p:cNvSpPr txBox="1"/>
          <p:nvPr/>
        </p:nvSpPr>
        <p:spPr>
          <a:xfrm>
            <a:off x="64008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Healthcare</a:t>
            </a:r>
            <a:endParaRPr lang="en-US" sz="1600" dirty="0"/>
          </a:p>
        </p:txBody>
      </p:sp>
      <p:sp>
        <p:nvSpPr>
          <p:cNvPr id="8" name="Card Traffic"/>
          <p:cNvSpPr/>
          <p:nvPr/>
        </p:nvSpPr>
        <p:spPr>
          <a:xfrm>
            <a:off x="2651760" y="2011680"/>
            <a:ext cx="18288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9" name="Circle Traffic"/>
          <p:cNvSpPr/>
          <p:nvPr/>
        </p:nvSpPr>
        <p:spPr>
          <a:xfrm>
            <a:off x="3291840" y="21488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 Traff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2267712"/>
            <a:ext cx="310896" cy="310896"/>
          </a:xfrm>
          <a:prstGeom prst="rect">
            <a:avLst/>
          </a:prstGeom>
        </p:spPr>
      </p:pic>
      <p:sp>
        <p:nvSpPr>
          <p:cNvPr id="11" name="Label Traffic"/>
          <p:cNvSpPr txBox="1"/>
          <p:nvPr/>
        </p:nvSpPr>
        <p:spPr>
          <a:xfrm>
            <a:off x="265176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Traffic</a:t>
            </a:r>
            <a:endParaRPr lang="en-US" sz="1600" dirty="0"/>
          </a:p>
        </p:txBody>
      </p:sp>
      <p:sp>
        <p:nvSpPr>
          <p:cNvPr id="12" name="Card Agriculture"/>
          <p:cNvSpPr/>
          <p:nvPr/>
        </p:nvSpPr>
        <p:spPr>
          <a:xfrm>
            <a:off x="4663440" y="2011680"/>
            <a:ext cx="18288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3" name="Circle Agriculture"/>
          <p:cNvSpPr/>
          <p:nvPr/>
        </p:nvSpPr>
        <p:spPr>
          <a:xfrm>
            <a:off x="5303520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 Agricultur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2267712"/>
            <a:ext cx="310896" cy="310896"/>
          </a:xfrm>
          <a:prstGeom prst="rect">
            <a:avLst/>
          </a:prstGeom>
        </p:spPr>
      </p:pic>
      <p:sp>
        <p:nvSpPr>
          <p:cNvPr id="15" name="Label Agriculture"/>
          <p:cNvSpPr txBox="1"/>
          <p:nvPr/>
        </p:nvSpPr>
        <p:spPr>
          <a:xfrm>
            <a:off x="466344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Agriculture</a:t>
            </a:r>
            <a:endParaRPr lang="en-US" sz="1600" dirty="0"/>
          </a:p>
        </p:txBody>
      </p:sp>
      <p:sp>
        <p:nvSpPr>
          <p:cNvPr id="16" name="Card Energy"/>
          <p:cNvSpPr/>
          <p:nvPr/>
        </p:nvSpPr>
        <p:spPr>
          <a:xfrm>
            <a:off x="6675120" y="2011680"/>
            <a:ext cx="18288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7" name="Circle Energy"/>
          <p:cNvSpPr/>
          <p:nvPr/>
        </p:nvSpPr>
        <p:spPr>
          <a:xfrm>
            <a:off x="7315200" y="21488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con Energy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072" y="2267712"/>
            <a:ext cx="310896" cy="310896"/>
          </a:xfrm>
          <a:prstGeom prst="rect">
            <a:avLst/>
          </a:prstGeom>
        </p:spPr>
      </p:pic>
      <p:sp>
        <p:nvSpPr>
          <p:cNvPr id="19" name="Label Energy"/>
          <p:cNvSpPr txBox="1"/>
          <p:nvPr/>
        </p:nvSpPr>
        <p:spPr>
          <a:xfrm>
            <a:off x="667512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Energy</a:t>
            </a:r>
            <a:endParaRPr lang="en-US" sz="1600" dirty="0"/>
          </a:p>
        </p:txBody>
      </p:sp>
      <p:sp>
        <p:nvSpPr>
          <p:cNvPr id="20" name="Card Cybersecurity"/>
          <p:cNvSpPr/>
          <p:nvPr/>
        </p:nvSpPr>
        <p:spPr>
          <a:xfrm>
            <a:off x="1645920" y="3474720"/>
            <a:ext cx="18288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21" name="Circle Cybersecurity"/>
          <p:cNvSpPr/>
          <p:nvPr/>
        </p:nvSpPr>
        <p:spPr>
          <a:xfrm>
            <a:off x="2286000" y="36118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2" name="Icon Cybersecurity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4872" y="3730752"/>
            <a:ext cx="310896" cy="310896"/>
          </a:xfrm>
          <a:prstGeom prst="rect">
            <a:avLst/>
          </a:prstGeom>
        </p:spPr>
      </p:pic>
      <p:sp>
        <p:nvSpPr>
          <p:cNvPr id="23" name="Label Cybersecurity"/>
          <p:cNvSpPr txBox="1"/>
          <p:nvPr/>
        </p:nvSpPr>
        <p:spPr>
          <a:xfrm>
            <a:off x="164592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Cybersecurity</a:t>
            </a:r>
            <a:endParaRPr lang="en-US" sz="1600" dirty="0"/>
          </a:p>
        </p:txBody>
      </p:sp>
      <p:sp>
        <p:nvSpPr>
          <p:cNvPr id="24" name="Card Education"/>
          <p:cNvSpPr/>
          <p:nvPr/>
        </p:nvSpPr>
        <p:spPr>
          <a:xfrm>
            <a:off x="3657600" y="3474720"/>
            <a:ext cx="18288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25" name="Circle Education"/>
          <p:cNvSpPr/>
          <p:nvPr/>
        </p:nvSpPr>
        <p:spPr>
          <a:xfrm>
            <a:off x="4297680" y="361188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6" name="Icon Educati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6552" y="3730752"/>
            <a:ext cx="310896" cy="310896"/>
          </a:xfrm>
          <a:prstGeom prst="rect">
            <a:avLst/>
          </a:prstGeom>
        </p:spPr>
      </p:pic>
      <p:sp>
        <p:nvSpPr>
          <p:cNvPr id="27" name="Label Education"/>
          <p:cNvSpPr txBox="1"/>
          <p:nvPr/>
        </p:nvSpPr>
        <p:spPr>
          <a:xfrm>
            <a:off x="365760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Education</a:t>
            </a:r>
            <a:endParaRPr lang="en-US" sz="1600" dirty="0"/>
          </a:p>
        </p:txBody>
      </p:sp>
      <p:sp>
        <p:nvSpPr>
          <p:cNvPr id="28" name="Card Disasters"/>
          <p:cNvSpPr/>
          <p:nvPr/>
        </p:nvSpPr>
        <p:spPr>
          <a:xfrm>
            <a:off x="5669280" y="3474720"/>
            <a:ext cx="18288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29" name="Circle Disasters"/>
          <p:cNvSpPr/>
          <p:nvPr/>
        </p:nvSpPr>
        <p:spPr>
          <a:xfrm>
            <a:off x="6309360" y="36118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0" name="Icon Disasters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3730752"/>
            <a:ext cx="310896" cy="310896"/>
          </a:xfrm>
          <a:prstGeom prst="rect">
            <a:avLst/>
          </a:prstGeom>
        </p:spPr>
      </p:pic>
      <p:sp>
        <p:nvSpPr>
          <p:cNvPr id="31" name="Label Disasters"/>
          <p:cNvSpPr txBox="1"/>
          <p:nvPr/>
        </p:nvSpPr>
        <p:spPr>
          <a:xfrm>
            <a:off x="566928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Disasters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Healthcare Access</a:t>
            </a:r>
            <a:endParaRPr lang="en-US" sz="3600" dirty="0"/>
          </a:p>
        </p:txBody>
      </p:sp>
      <p:sp>
        <p:nvSpPr>
          <p:cNvPr id="3" name="Icon panel"/>
          <p:cNvSpPr/>
          <p:nvPr/>
        </p:nvSpPr>
        <p:spPr>
          <a:xfrm>
            <a:off x="548640" y="1371600"/>
            <a:ext cx="2743200" cy="3108960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/>
        </p:spPr>
      </p:sp>
      <p:pic>
        <p:nvPicPr>
          <p:cNvPr id="4" name="Top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286000"/>
            <a:ext cx="1280160" cy="1280160"/>
          </a:xfrm>
          <a:prstGeom prst="rect">
            <a:avLst/>
          </a:prstGeom>
        </p:spPr>
      </p:pic>
      <p:sp>
        <p:nvSpPr>
          <p:cNvPr id="5" name="Card The Problem"/>
          <p:cNvSpPr/>
          <p:nvPr/>
        </p:nvSpPr>
        <p:spPr>
          <a:xfrm>
            <a:off x="3566160" y="1371600"/>
            <a:ext cx="50292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6" name="Text The Problem"/>
          <p:cNvSpPr txBox="1"/>
          <p:nvPr/>
        </p:nvSpPr>
        <p:spPr>
          <a:xfrm>
            <a:off x="3749040" y="14173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The Problem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Millions live far from a hospital, and diseases are often caught too late to treat easily.</a:t>
            </a:r>
            <a:endParaRPr lang="en-US" sz="1400" dirty="0"/>
          </a:p>
        </p:txBody>
      </p:sp>
      <p:sp>
        <p:nvSpPr>
          <p:cNvPr id="7" name="Card Technical Solution"/>
          <p:cNvSpPr/>
          <p:nvPr/>
        </p:nvSpPr>
        <p:spPr>
          <a:xfrm>
            <a:off x="3566160" y="2423160"/>
            <a:ext cx="50292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8" name="Text Technical Solution"/>
          <p:cNvSpPr txBox="1"/>
          <p:nvPr/>
        </p:nvSpPr>
        <p:spPr>
          <a:xfrm>
            <a:off x="3749040" y="2468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Technical Solution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Telemedicine apps, wearable sensors and AI that screens X-rays and scans for early warning signs.</a:t>
            </a:r>
            <a:endParaRPr lang="en-US" sz="1400" dirty="0"/>
          </a:p>
        </p:txBody>
      </p:sp>
      <p:sp>
        <p:nvSpPr>
          <p:cNvPr id="9" name="Card Impact"/>
          <p:cNvSpPr/>
          <p:nvPr/>
        </p:nvSpPr>
        <p:spPr>
          <a:xfrm>
            <a:off x="3566160" y="3474720"/>
            <a:ext cx="50292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Text Impact"/>
          <p:cNvSpPr txBox="1"/>
          <p:nvPr/>
        </p:nvSpPr>
        <p:spPr>
          <a:xfrm>
            <a:off x="3749040" y="35204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Impact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Faster diagnosis, care reaching remote villages, fewer emergencies.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Traffic and Road Safety</a:t>
            </a:r>
            <a:endParaRPr lang="en-US" sz="3600" dirty="0"/>
          </a:p>
        </p:txBody>
      </p:sp>
      <p:sp>
        <p:nvSpPr>
          <p:cNvPr id="3" name="Icon panel"/>
          <p:cNvSpPr/>
          <p:nvPr/>
        </p:nvSpPr>
        <p:spPr>
          <a:xfrm>
            <a:off x="5852160" y="1371600"/>
            <a:ext cx="2743200" cy="3108960"/>
          </a:xfrm>
          <a:prstGeom prst="roundRect">
            <a:avLst>
              <a:gd name="adj" fmla="val 4000"/>
            </a:avLst>
          </a:prstGeom>
          <a:solidFill>
            <a:schemeClr val="accent3"/>
          </a:solidFill>
          <a:ln/>
        </p:spPr>
      </p:sp>
      <p:pic>
        <p:nvPicPr>
          <p:cNvPr id="4" name="Top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286000"/>
            <a:ext cx="1280160" cy="1280160"/>
          </a:xfrm>
          <a:prstGeom prst="rect">
            <a:avLst/>
          </a:prstGeom>
        </p:spPr>
      </p:pic>
      <p:sp>
        <p:nvSpPr>
          <p:cNvPr id="5" name="Card The Problem"/>
          <p:cNvSpPr/>
          <p:nvPr/>
        </p:nvSpPr>
        <p:spPr>
          <a:xfrm>
            <a:off x="548640" y="1371600"/>
            <a:ext cx="50292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6" name="Text The Problem"/>
          <p:cNvSpPr txBox="1"/>
          <p:nvPr/>
        </p:nvSpPr>
        <p:spPr>
          <a:xfrm>
            <a:off x="731520" y="14173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The Problem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Congestion wastes time and fuel, and road accidents cost lives every day.</a:t>
            </a:r>
            <a:endParaRPr lang="en-US" sz="1400" dirty="0"/>
          </a:p>
        </p:txBody>
      </p:sp>
      <p:sp>
        <p:nvSpPr>
          <p:cNvPr id="7" name="Card Technical Solution"/>
          <p:cNvSpPr/>
          <p:nvPr/>
        </p:nvSpPr>
        <p:spPr>
          <a:xfrm>
            <a:off x="548640" y="2423160"/>
            <a:ext cx="50292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8" name="Text Technical Solution"/>
          <p:cNvSpPr txBox="1"/>
          <p:nvPr/>
        </p:nvSpPr>
        <p:spPr>
          <a:xfrm>
            <a:off x="731520" y="2468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Technical Solution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Smart traffic signals using sensors and AI, GPS navigation, and driver-assist systems.</a:t>
            </a:r>
            <a:endParaRPr lang="en-US" sz="1400" dirty="0"/>
          </a:p>
        </p:txBody>
      </p:sp>
      <p:sp>
        <p:nvSpPr>
          <p:cNvPr id="9" name="Card Impact"/>
          <p:cNvSpPr/>
          <p:nvPr/>
        </p:nvSpPr>
        <p:spPr>
          <a:xfrm>
            <a:off x="548640" y="3474720"/>
            <a:ext cx="50292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Text Impact"/>
          <p:cNvSpPr txBox="1"/>
          <p:nvPr/>
        </p:nvSpPr>
        <p:spPr>
          <a:xfrm>
            <a:off x="731520" y="35204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Impact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Shorter commutes, lower emissions, safer roads.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Food and Agriculture</a:t>
            </a:r>
            <a:endParaRPr lang="en-US" sz="3600" dirty="0"/>
          </a:p>
        </p:txBody>
      </p:sp>
      <p:sp>
        <p:nvSpPr>
          <p:cNvPr id="3" name="Icon panel"/>
          <p:cNvSpPr/>
          <p:nvPr/>
        </p:nvSpPr>
        <p:spPr>
          <a:xfrm>
            <a:off x="548640" y="1371600"/>
            <a:ext cx="2743200" cy="310896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/>
        </p:spPr>
      </p:sp>
      <p:pic>
        <p:nvPicPr>
          <p:cNvPr id="4" name="Top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286000"/>
            <a:ext cx="1280160" cy="1280160"/>
          </a:xfrm>
          <a:prstGeom prst="rect">
            <a:avLst/>
          </a:prstGeom>
        </p:spPr>
      </p:pic>
      <p:sp>
        <p:nvSpPr>
          <p:cNvPr id="5" name="Card The Problem"/>
          <p:cNvSpPr/>
          <p:nvPr/>
        </p:nvSpPr>
        <p:spPr>
          <a:xfrm>
            <a:off x="3566160" y="1371600"/>
            <a:ext cx="50292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6" name="Text The Problem"/>
          <p:cNvSpPr txBox="1"/>
          <p:nvPr/>
        </p:nvSpPr>
        <p:spPr>
          <a:xfrm>
            <a:off x="3749040" y="14173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The Problem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Farmers face unpredictable weather, crop disease and wasted water.</a:t>
            </a:r>
            <a:endParaRPr lang="en-US" sz="1400" dirty="0"/>
          </a:p>
        </p:txBody>
      </p:sp>
      <p:sp>
        <p:nvSpPr>
          <p:cNvPr id="7" name="Card Technical Solution"/>
          <p:cNvSpPr/>
          <p:nvPr/>
        </p:nvSpPr>
        <p:spPr>
          <a:xfrm>
            <a:off x="3566160" y="2423160"/>
            <a:ext cx="50292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8" name="Text Technical Solution"/>
          <p:cNvSpPr txBox="1"/>
          <p:nvPr/>
        </p:nvSpPr>
        <p:spPr>
          <a:xfrm>
            <a:off x="3749040" y="2468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Technical Solution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Drones, soil sensors, satellite imagery and apps that advise on crops and irrigation.</a:t>
            </a:r>
            <a:endParaRPr lang="en-US" sz="1400" dirty="0"/>
          </a:p>
        </p:txBody>
      </p:sp>
      <p:sp>
        <p:nvSpPr>
          <p:cNvPr id="9" name="Card Impact"/>
          <p:cNvSpPr/>
          <p:nvPr/>
        </p:nvSpPr>
        <p:spPr>
          <a:xfrm>
            <a:off x="3566160" y="3474720"/>
            <a:ext cx="50292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Text Impact"/>
          <p:cNvSpPr txBox="1"/>
          <p:nvPr/>
        </p:nvSpPr>
        <p:spPr>
          <a:xfrm>
            <a:off x="3749040" y="35204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Impact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Higher yields, less water and fertilizer used, better farmer income.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Clean Energy and Climate</a:t>
            </a:r>
            <a:endParaRPr lang="en-US" sz="3600" dirty="0"/>
          </a:p>
        </p:txBody>
      </p:sp>
      <p:sp>
        <p:nvSpPr>
          <p:cNvPr id="3" name="Icon panel"/>
          <p:cNvSpPr/>
          <p:nvPr/>
        </p:nvSpPr>
        <p:spPr>
          <a:xfrm>
            <a:off x="5852160" y="1371600"/>
            <a:ext cx="2743200" cy="3108960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/>
        </p:spPr>
      </p:sp>
      <p:pic>
        <p:nvPicPr>
          <p:cNvPr id="4" name="Top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286000"/>
            <a:ext cx="1280160" cy="1280160"/>
          </a:xfrm>
          <a:prstGeom prst="rect">
            <a:avLst/>
          </a:prstGeom>
        </p:spPr>
      </p:pic>
      <p:sp>
        <p:nvSpPr>
          <p:cNvPr id="5" name="Card The Problem"/>
          <p:cNvSpPr/>
          <p:nvPr/>
        </p:nvSpPr>
        <p:spPr>
          <a:xfrm>
            <a:off x="548640" y="1371600"/>
            <a:ext cx="50292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6" name="Text The Problem"/>
          <p:cNvSpPr txBox="1"/>
          <p:nvPr/>
        </p:nvSpPr>
        <p:spPr>
          <a:xfrm>
            <a:off x="731520" y="14173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The Problem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Fossil fuels drive climate change while power demand keeps growing.</a:t>
            </a:r>
            <a:endParaRPr lang="en-US" sz="1400" dirty="0"/>
          </a:p>
        </p:txBody>
      </p:sp>
      <p:sp>
        <p:nvSpPr>
          <p:cNvPr id="7" name="Card Technical Solution"/>
          <p:cNvSpPr/>
          <p:nvPr/>
        </p:nvSpPr>
        <p:spPr>
          <a:xfrm>
            <a:off x="548640" y="2423160"/>
            <a:ext cx="50292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8" name="Text Technical Solution"/>
          <p:cNvSpPr txBox="1"/>
          <p:nvPr/>
        </p:nvSpPr>
        <p:spPr>
          <a:xfrm>
            <a:off x="731520" y="2468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Technical Solution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Solar and wind power, battery storage, smart grids and energy-saving IoT devices.</a:t>
            </a:r>
            <a:endParaRPr lang="en-US" sz="1400" dirty="0"/>
          </a:p>
        </p:txBody>
      </p:sp>
      <p:sp>
        <p:nvSpPr>
          <p:cNvPr id="9" name="Card Impact"/>
          <p:cNvSpPr/>
          <p:nvPr/>
        </p:nvSpPr>
        <p:spPr>
          <a:xfrm>
            <a:off x="548640" y="3474720"/>
            <a:ext cx="50292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Text Impact"/>
          <p:cNvSpPr txBox="1"/>
          <p:nvPr/>
        </p:nvSpPr>
        <p:spPr>
          <a:xfrm>
            <a:off x="731520" y="35204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Impact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Lower carbon emissions and reliable, affordable electricity.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Cybersecurity and Privacy</a:t>
            </a:r>
            <a:endParaRPr lang="en-US" sz="3600" dirty="0"/>
          </a:p>
        </p:txBody>
      </p:sp>
      <p:sp>
        <p:nvSpPr>
          <p:cNvPr id="3" name="Icon panel"/>
          <p:cNvSpPr/>
          <p:nvPr/>
        </p:nvSpPr>
        <p:spPr>
          <a:xfrm>
            <a:off x="548640" y="1371600"/>
            <a:ext cx="2743200" cy="3108960"/>
          </a:xfrm>
          <a:prstGeom prst="roundRect">
            <a:avLst>
              <a:gd name="adj" fmla="val 4000"/>
            </a:avLst>
          </a:prstGeom>
          <a:solidFill>
            <a:schemeClr val="accent5"/>
          </a:solidFill>
          <a:ln/>
        </p:spPr>
      </p:sp>
      <p:pic>
        <p:nvPicPr>
          <p:cNvPr id="4" name="Top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286000"/>
            <a:ext cx="1280160" cy="1280160"/>
          </a:xfrm>
          <a:prstGeom prst="rect">
            <a:avLst/>
          </a:prstGeom>
        </p:spPr>
      </p:pic>
      <p:sp>
        <p:nvSpPr>
          <p:cNvPr id="5" name="Card The Problem"/>
          <p:cNvSpPr/>
          <p:nvPr/>
        </p:nvSpPr>
        <p:spPr>
          <a:xfrm>
            <a:off x="3566160" y="1371600"/>
            <a:ext cx="50292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6" name="Text The Problem"/>
          <p:cNvSpPr txBox="1"/>
          <p:nvPr/>
        </p:nvSpPr>
        <p:spPr>
          <a:xfrm>
            <a:off x="3749040" y="14173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The Problem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Phishing, ransomware and data leaks put personal and business information at risk.</a:t>
            </a:r>
            <a:endParaRPr lang="en-US" sz="1400" dirty="0"/>
          </a:p>
        </p:txBody>
      </p:sp>
      <p:sp>
        <p:nvSpPr>
          <p:cNvPr id="7" name="Card Technical Solution"/>
          <p:cNvSpPr/>
          <p:nvPr/>
        </p:nvSpPr>
        <p:spPr>
          <a:xfrm>
            <a:off x="3566160" y="2423160"/>
            <a:ext cx="50292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8" name="Text Technical Solution"/>
          <p:cNvSpPr txBox="1"/>
          <p:nvPr/>
        </p:nvSpPr>
        <p:spPr>
          <a:xfrm>
            <a:off x="3749040" y="2468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Technical Solution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Encryption, multi-factor authentication, firewalls and AI-based threat detection.</a:t>
            </a:r>
            <a:endParaRPr lang="en-US" sz="1400" dirty="0"/>
          </a:p>
        </p:txBody>
      </p:sp>
      <p:sp>
        <p:nvSpPr>
          <p:cNvPr id="9" name="Card Impact"/>
          <p:cNvSpPr/>
          <p:nvPr/>
        </p:nvSpPr>
        <p:spPr>
          <a:xfrm>
            <a:off x="3566160" y="3474720"/>
            <a:ext cx="50292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Text Impact"/>
          <p:cNvSpPr txBox="1"/>
          <p:nvPr/>
        </p:nvSpPr>
        <p:spPr>
          <a:xfrm>
            <a:off x="3749040" y="35204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Impact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Protected identities, safer online payments, greater digital trust.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Education for Everyone</a:t>
            </a:r>
            <a:endParaRPr lang="en-US" sz="3600" dirty="0"/>
          </a:p>
        </p:txBody>
      </p:sp>
      <p:sp>
        <p:nvSpPr>
          <p:cNvPr id="3" name="Icon panel"/>
          <p:cNvSpPr/>
          <p:nvPr/>
        </p:nvSpPr>
        <p:spPr>
          <a:xfrm>
            <a:off x="5852160" y="1371600"/>
            <a:ext cx="2743200" cy="3108960"/>
          </a:xfrm>
          <a:prstGeom prst="roundRect">
            <a:avLst>
              <a:gd name="adj" fmla="val 4000"/>
            </a:avLst>
          </a:prstGeom>
          <a:solidFill>
            <a:schemeClr val="accent6"/>
          </a:solidFill>
          <a:ln/>
        </p:spPr>
      </p:sp>
      <p:pic>
        <p:nvPicPr>
          <p:cNvPr id="4" name="Top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286000"/>
            <a:ext cx="1280160" cy="1280160"/>
          </a:xfrm>
          <a:prstGeom prst="rect">
            <a:avLst/>
          </a:prstGeom>
        </p:spPr>
      </p:pic>
      <p:sp>
        <p:nvSpPr>
          <p:cNvPr id="5" name="Card The Problem"/>
          <p:cNvSpPr/>
          <p:nvPr/>
        </p:nvSpPr>
        <p:spPr>
          <a:xfrm>
            <a:off x="548640" y="1371600"/>
            <a:ext cx="50292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6" name="Text The Problem"/>
          <p:cNvSpPr txBox="1"/>
          <p:nvPr/>
        </p:nvSpPr>
        <p:spPr>
          <a:xfrm>
            <a:off x="731520" y="14173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The Problem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Many students lack good teachers, books or schools nearby.</a:t>
            </a:r>
            <a:endParaRPr lang="en-US" sz="1400" dirty="0"/>
          </a:p>
        </p:txBody>
      </p:sp>
      <p:sp>
        <p:nvSpPr>
          <p:cNvPr id="7" name="Card Technical Solution"/>
          <p:cNvSpPr/>
          <p:nvPr/>
        </p:nvSpPr>
        <p:spPr>
          <a:xfrm>
            <a:off x="548640" y="2423160"/>
            <a:ext cx="50292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8" name="Text Technical Solution"/>
          <p:cNvSpPr txBox="1"/>
          <p:nvPr/>
        </p:nvSpPr>
        <p:spPr>
          <a:xfrm>
            <a:off x="731520" y="2468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Technical Solution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E-learning platforms, recorded lectures, adaptive learning software and low-cost devices.</a:t>
            </a:r>
            <a:endParaRPr lang="en-US" sz="1400" dirty="0"/>
          </a:p>
        </p:txBody>
      </p:sp>
      <p:sp>
        <p:nvSpPr>
          <p:cNvPr id="9" name="Card Impact"/>
          <p:cNvSpPr/>
          <p:nvPr/>
        </p:nvSpPr>
        <p:spPr>
          <a:xfrm>
            <a:off x="548640" y="3474720"/>
            <a:ext cx="50292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Text Impact"/>
          <p:cNvSpPr txBox="1"/>
          <p:nvPr/>
        </p:nvSpPr>
        <p:spPr>
          <a:xfrm>
            <a:off x="731520" y="35204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Impact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Learning anywhere, at each student's own pace.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Disaster Management</a:t>
            </a:r>
            <a:endParaRPr lang="en-US" sz="3600" dirty="0"/>
          </a:p>
        </p:txBody>
      </p:sp>
      <p:sp>
        <p:nvSpPr>
          <p:cNvPr id="3" name="Icon panel"/>
          <p:cNvSpPr/>
          <p:nvPr/>
        </p:nvSpPr>
        <p:spPr>
          <a:xfrm>
            <a:off x="548640" y="1371600"/>
            <a:ext cx="2743200" cy="3108960"/>
          </a:xfrm>
          <a:prstGeom prst="roundRect">
            <a:avLst>
              <a:gd name="adj" fmla="val 4000"/>
            </a:avLst>
          </a:prstGeom>
          <a:solidFill>
            <a:schemeClr val="accent3"/>
          </a:solidFill>
          <a:ln/>
        </p:spPr>
      </p:sp>
      <p:pic>
        <p:nvPicPr>
          <p:cNvPr id="4" name="Top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286000"/>
            <a:ext cx="1280160" cy="1280160"/>
          </a:xfrm>
          <a:prstGeom prst="rect">
            <a:avLst/>
          </a:prstGeom>
        </p:spPr>
      </p:pic>
      <p:sp>
        <p:nvSpPr>
          <p:cNvPr id="5" name="Card The Problem"/>
          <p:cNvSpPr/>
          <p:nvPr/>
        </p:nvSpPr>
        <p:spPr>
          <a:xfrm>
            <a:off x="3566160" y="1371600"/>
            <a:ext cx="50292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6" name="Text The Problem"/>
          <p:cNvSpPr txBox="1"/>
          <p:nvPr/>
        </p:nvSpPr>
        <p:spPr>
          <a:xfrm>
            <a:off x="3749040" y="14173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The Problem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Floods, cyclones and earthquakes strike with little warning and cause heavy loss.</a:t>
            </a:r>
            <a:endParaRPr lang="en-US" sz="1400" dirty="0"/>
          </a:p>
        </p:txBody>
      </p:sp>
      <p:sp>
        <p:nvSpPr>
          <p:cNvPr id="7" name="Card Technical Solution"/>
          <p:cNvSpPr/>
          <p:nvPr/>
        </p:nvSpPr>
        <p:spPr>
          <a:xfrm>
            <a:off x="3566160" y="2423160"/>
            <a:ext cx="50292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8" name="Text Technical Solution"/>
          <p:cNvSpPr txBox="1"/>
          <p:nvPr/>
        </p:nvSpPr>
        <p:spPr>
          <a:xfrm>
            <a:off x="3749040" y="2468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Technical Solution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Satellite and sensor-based early warning, mapping tools, and mobile alerts and rescue drones.</a:t>
            </a:r>
            <a:endParaRPr lang="en-US" sz="1400" dirty="0"/>
          </a:p>
        </p:txBody>
      </p:sp>
      <p:sp>
        <p:nvSpPr>
          <p:cNvPr id="9" name="Card Impact"/>
          <p:cNvSpPr/>
          <p:nvPr/>
        </p:nvSpPr>
        <p:spPr>
          <a:xfrm>
            <a:off x="3566160" y="3474720"/>
            <a:ext cx="50292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Text Impact"/>
          <p:cNvSpPr txBox="1"/>
          <p:nvPr/>
        </p:nvSpPr>
        <p:spPr>
          <a:xfrm>
            <a:off x="3749040" y="35204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Impact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Timely evacuation, quicker rescue, and lives and property saved.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Thank You</a:t>
            </a:r>
            <a:endParaRPr lang="en-US" sz="3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2926080"/>
            <a:ext cx="786384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Technology works best when it solves real problems for real people.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ForGood">
  <a:themeElements>
    <a:clrScheme name="TechForGood">
      <a:dk1>
        <a:srgbClr val="12263A"/>
      </a:dk1>
      <a:lt1>
        <a:srgbClr val="FFFFFF"/>
      </a:lt1>
      <a:dk2>
        <a:srgbClr val="0B3C5D"/>
      </a:dk2>
      <a:lt2>
        <a:srgbClr val="EAF2F6"/>
      </a:lt2>
      <a:accent1>
        <a:srgbClr val="1B998B"/>
      </a:accent1>
      <a:accent2>
        <a:srgbClr val="F4743B"/>
      </a:accent2>
      <a:accent3>
        <a:srgbClr val="328CC1"/>
      </a:accent3>
      <a:accent4>
        <a:srgbClr val="F2B134"/>
      </a:accent4>
      <a:accent5>
        <a:srgbClr val="6C5B7B"/>
      </a:accent5>
      <a:accent6>
        <a:srgbClr val="5C7AEA"/>
      </a:accent6>
      <a:hlink>
        <a:srgbClr val="328CC1"/>
      </a:hlink>
      <a:folHlink>
        <a:srgbClr val="6C5B7B"/>
      </a:folHlink>
    </a:clrScheme>
    <a:fontScheme name="TechForGoo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Real-Life Problems That Require Technical Solutions</dc:title>
  <dc:subject>PptxGenJS Presentation</dc:subject>
  <dc:creator>Sivapriya</dc:creator>
  <cp:lastModifiedBy>Sivapriya</cp:lastModifiedBy>
  <cp:revision>1</cp:revision>
  <dcterms:created xsi:type="dcterms:W3CDTF">2026-10-07T07:31:58Z</dcterms:created>
  <dcterms:modified xsi:type="dcterms:W3CDTF">2026-10-07T07:31:58Z</dcterms:modified>
</cp:coreProperties>
</file>