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df9f456-ecb8-1c3d-3b55-74a608df6e4d}">
          <p14:sldIdLst>
            <p14:sldId id="256"/>
          </p14:sldIdLst>
        </p14:section>
        <p14:section name="Problem" id="{27c58f89-9a03-4589-5c7f-038452cb766e}">
          <p14:sldIdLst>
            <p14:sldId id="257"/>
          </p14:sldIdLst>
        </p14:section>
        <p14:section name="Solution" id="{b780ebb8-4843-7860-7100-4aeb488fe44b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document management: admission, academic, financial and personal records. Presented by Sivapriya.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Attack rate: Check Point Research, reported Sep 2024 (education India 8,195 per week per organisation vs 3,355 global). Ransomware: Comparitech 2025 roundup (251 attacks, 94 confirmed, 3.96M records). Breach cost: IBM 2025, INR 220 million average in India, phishing 18% of initial vectors. DPDP Rules notified 14 Nov 2025 with 18-month phase-in; up to Rs 250 crore for failing to maintain reasonable security safeguards.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A covers storage: multi-factor sign-in, file validation, encryption plus a SHA-256 fingerprint, then storage. Flow B covers access: role check, decrypt and re-verify the fingerprint, deliver or block and alert. All actions are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built with HTML and the browser's Web Crypto API. Demonstrated: multi-factor login, role-based views, input validation, AES-256-GCM encryption, SHA-256 integrity verification, tamper detection and an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Student Document Management &amp; Cyber Security</a:t>
            </a:r>
            <a:endParaRPr lang="en-US" sz="38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3017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Protecting student records from leaks, loss and forgery</a:t>
            </a:r>
            <a:endParaRPr lang="en-US" sz="1600" dirty="0"/>
          </a:p>
        </p:txBody>
      </p:sp>
      <p:sp>
        <p:nvSpPr>
          <p:cNvPr id="4" name="Presenter"/>
          <p:cNvSpPr txBox="1"/>
          <p:nvPr/>
        </p:nvSpPr>
        <p:spPr>
          <a:xfrm>
            <a:off x="5486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Presented by Sivapriya</a:t>
            </a:r>
            <a:endParaRPr lang="en-US" sz="1800" dirty="0"/>
          </a:p>
        </p:txBody>
      </p:sp>
      <p:sp>
        <p:nvSpPr>
          <p:cNvPr id="5" name="Chip 1"/>
          <p:cNvSpPr/>
          <p:nvPr/>
        </p:nvSpPr>
        <p:spPr>
          <a:xfrm>
            <a:off x="5852160" y="86868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6" name="Chip icon bg 1"/>
          <p:cNvSpPr/>
          <p:nvPr/>
        </p:nvSpPr>
        <p:spPr>
          <a:xfrm>
            <a:off x="5989320" y="1005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Admission &amp; ID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1115568"/>
            <a:ext cx="237744" cy="237744"/>
          </a:xfrm>
          <a:prstGeom prst="rect">
            <a:avLst/>
          </a:prstGeom>
        </p:spPr>
      </p:pic>
      <p:sp>
        <p:nvSpPr>
          <p:cNvPr id="8" name="Chip label 1"/>
          <p:cNvSpPr txBox="1"/>
          <p:nvPr/>
        </p:nvSpPr>
        <p:spPr>
          <a:xfrm>
            <a:off x="6583680" y="868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Admission &amp; ID records</a:t>
            </a:r>
            <a:endParaRPr lang="en-US" sz="1400" dirty="0"/>
          </a:p>
        </p:txBody>
      </p:sp>
      <p:sp>
        <p:nvSpPr>
          <p:cNvPr id="9" name="Chip 2"/>
          <p:cNvSpPr/>
          <p:nvPr/>
        </p:nvSpPr>
        <p:spPr>
          <a:xfrm>
            <a:off x="5852160" y="178308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0" name="Chip icon bg 2"/>
          <p:cNvSpPr/>
          <p:nvPr/>
        </p:nvSpPr>
        <p:spPr>
          <a:xfrm>
            <a:off x="598932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Marksheets &amp; certific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029968"/>
            <a:ext cx="237744" cy="237744"/>
          </a:xfrm>
          <a:prstGeom prst="rect">
            <a:avLst/>
          </a:prstGeom>
        </p:spPr>
      </p:pic>
      <p:sp>
        <p:nvSpPr>
          <p:cNvPr id="12" name="Chip label 2"/>
          <p:cNvSpPr txBox="1"/>
          <p:nvPr/>
        </p:nvSpPr>
        <p:spPr>
          <a:xfrm>
            <a:off x="6583680" y="1783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Marksheets &amp; certificates</a:t>
            </a:r>
            <a:endParaRPr lang="en-US" sz="1400" dirty="0"/>
          </a:p>
        </p:txBody>
      </p:sp>
      <p:sp>
        <p:nvSpPr>
          <p:cNvPr id="13" name="Chip 3"/>
          <p:cNvSpPr/>
          <p:nvPr/>
        </p:nvSpPr>
        <p:spPr>
          <a:xfrm>
            <a:off x="5852160" y="269748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4" name="Chip icon bg 3"/>
          <p:cNvSpPr/>
          <p:nvPr/>
        </p:nvSpPr>
        <p:spPr>
          <a:xfrm>
            <a:off x="598932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Fee &amp; scholarship fi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2944368"/>
            <a:ext cx="237744" cy="237744"/>
          </a:xfrm>
          <a:prstGeom prst="rect">
            <a:avLst/>
          </a:prstGeom>
        </p:spPr>
      </p:pic>
      <p:sp>
        <p:nvSpPr>
          <p:cNvPr id="16" name="Chip label 3"/>
          <p:cNvSpPr txBox="1"/>
          <p:nvPr/>
        </p:nvSpPr>
        <p:spPr>
          <a:xfrm>
            <a:off x="658368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Fee &amp; scholarship files</a:t>
            </a:r>
            <a:endParaRPr lang="en-US" sz="1400" dirty="0"/>
          </a:p>
        </p:txBody>
      </p:sp>
      <p:sp>
        <p:nvSpPr>
          <p:cNvPr id="17" name="Chip 4"/>
          <p:cNvSpPr/>
          <p:nvPr/>
        </p:nvSpPr>
        <p:spPr>
          <a:xfrm>
            <a:off x="5852160" y="3611880"/>
            <a:ext cx="27432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18" name="Chip icon bg 4"/>
          <p:cNvSpPr/>
          <p:nvPr/>
        </p:nvSpPr>
        <p:spPr>
          <a:xfrm>
            <a:off x="598932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Health &amp; personal da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3858768"/>
            <a:ext cx="237744" cy="237744"/>
          </a:xfrm>
          <a:prstGeom prst="rect">
            <a:avLst/>
          </a:prstGeom>
        </p:spPr>
      </p:pic>
      <p:sp>
        <p:nvSpPr>
          <p:cNvPr id="20" name="Chip label 4"/>
          <p:cNvSpPr txBox="1"/>
          <p:nvPr/>
        </p:nvSpPr>
        <p:spPr>
          <a:xfrm>
            <a:off x="6583680" y="3611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Health &amp; personal data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problem: records at risk</a:t>
            </a:r>
            <a:endParaRPr lang="en-US" sz="3600" dirty="0"/>
          </a:p>
        </p:txBody>
      </p:sp>
      <p:sp>
        <p:nvSpPr>
          <p:cNvPr id="3" name="Problem label"/>
          <p:cNvSpPr txBox="1"/>
          <p:nvPr/>
        </p:nvSpPr>
        <p:spPr>
          <a:xfrm>
            <a:off x="54864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4" name="Problem statement"/>
          <p:cNvSpPr txBox="1"/>
          <p:nvPr/>
        </p:nvSpPr>
        <p:spPr>
          <a:xfrm>
            <a:off x="548640" y="16002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 records (marksheets, IDs, fee and health data) sit in paper files, email, WhatsApp and shared drives. Without encryption, access control or tamper-proofing, they can be leaked, lost or forged, and the law now holds institutions liable.</a:t>
            </a:r>
            <a:endParaRPr lang="en-US" sz="1600" dirty="0"/>
          </a:p>
        </p:txBody>
      </p:sp>
      <p:sp>
        <p:nvSpPr>
          <p:cNvPr id="5" name="Where it breaks"/>
          <p:cNvSpPr txBox="1"/>
          <p:nvPr/>
        </p:nvSpPr>
        <p:spPr>
          <a:xfrm>
            <a:off x="54864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Scattered copies, no single source of truth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Shared logins, no record of who changed what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way to prove a certificate is genuine</a:t>
            </a:r>
            <a:endParaRPr lang="en-US" sz="1400" dirty="0"/>
          </a:p>
        </p:txBody>
      </p:sp>
      <p:sp>
        <p:nvSpPr>
          <p:cNvPr id="6" name="Stat card 1"/>
          <p:cNvSpPr/>
          <p:nvPr/>
        </p:nvSpPr>
        <p:spPr>
          <a:xfrm>
            <a:off x="4846320" y="1280160"/>
            <a:ext cx="178308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7" name="Stat number 1"/>
          <p:cNvSpPr txBox="1"/>
          <p:nvPr/>
        </p:nvSpPr>
        <p:spPr>
          <a:xfrm>
            <a:off x="498348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8,195</a:t>
            </a:r>
            <a:endParaRPr lang="en-US" sz="2400" dirty="0"/>
          </a:p>
        </p:txBody>
      </p:sp>
      <p:sp>
        <p:nvSpPr>
          <p:cNvPr id="8" name="Stat label 1"/>
          <p:cNvSpPr txBox="1"/>
          <p:nvPr/>
        </p:nvSpPr>
        <p:spPr>
          <a:xfrm>
            <a:off x="4983480" y="184708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weekly cyberattacks per education organisation in India vs 3,355 global average</a:t>
            </a:r>
            <a:endParaRPr lang="en-US" sz="1100" dirty="0"/>
          </a:p>
        </p:txBody>
      </p:sp>
      <p:sp>
        <p:nvSpPr>
          <p:cNvPr id="9" name="Stat card 2"/>
          <p:cNvSpPr/>
          <p:nvPr/>
        </p:nvSpPr>
        <p:spPr>
          <a:xfrm>
            <a:off x="6812280" y="1280160"/>
            <a:ext cx="178308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0" name="Stat number 2"/>
          <p:cNvSpPr txBox="1"/>
          <p:nvPr/>
        </p:nvSpPr>
        <p:spPr>
          <a:xfrm>
            <a:off x="694944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251</a:t>
            </a:r>
            <a:endParaRPr lang="en-US" sz="2400" dirty="0"/>
          </a:p>
        </p:txBody>
      </p:sp>
      <p:sp>
        <p:nvSpPr>
          <p:cNvPr id="11" name="Stat label 2"/>
          <p:cNvSpPr txBox="1"/>
          <p:nvPr/>
        </p:nvSpPr>
        <p:spPr>
          <a:xfrm>
            <a:off x="6949440" y="184708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ransomware attacks on schools and universities worldwide in 2025; 3.96M records exposed</a:t>
            </a:r>
            <a:endParaRPr lang="en-US" sz="1100" dirty="0"/>
          </a:p>
        </p:txBody>
      </p:sp>
      <p:sp>
        <p:nvSpPr>
          <p:cNvPr id="12" name="Stat card 3"/>
          <p:cNvSpPr/>
          <p:nvPr/>
        </p:nvSpPr>
        <p:spPr>
          <a:xfrm>
            <a:off x="4846320" y="2926080"/>
            <a:ext cx="178308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3" name="Stat number 3"/>
          <p:cNvSpPr txBox="1"/>
          <p:nvPr/>
        </p:nvSpPr>
        <p:spPr>
          <a:xfrm>
            <a:off x="498348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₹22 cr</a:t>
            </a:r>
            <a:endParaRPr lang="en-US" sz="2400" dirty="0"/>
          </a:p>
        </p:txBody>
      </p:sp>
      <p:sp>
        <p:nvSpPr>
          <p:cNvPr id="14" name="Stat label 3"/>
          <p:cNvSpPr txBox="1"/>
          <p:nvPr/>
        </p:nvSpPr>
        <p:spPr>
          <a:xfrm>
            <a:off x="4983480" y="349300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average cost of a data breach in India (2025); phishing is the top entry route</a:t>
            </a:r>
            <a:endParaRPr lang="en-US" sz="1100" dirty="0"/>
          </a:p>
        </p:txBody>
      </p:sp>
      <p:sp>
        <p:nvSpPr>
          <p:cNvPr id="15" name="Stat card 4"/>
          <p:cNvSpPr/>
          <p:nvPr/>
        </p:nvSpPr>
        <p:spPr>
          <a:xfrm>
            <a:off x="6812280" y="2926080"/>
            <a:ext cx="1783080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6" name="Stat number 4"/>
          <p:cNvSpPr txBox="1"/>
          <p:nvPr/>
        </p:nvSpPr>
        <p:spPr>
          <a:xfrm>
            <a:off x="694944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₹250 cr</a:t>
            </a:r>
            <a:endParaRPr lang="en-US" sz="2400" dirty="0"/>
          </a:p>
        </p:txBody>
      </p:sp>
      <p:sp>
        <p:nvSpPr>
          <p:cNvPr id="17" name="Stat label 4"/>
          <p:cNvSpPr txBox="1"/>
          <p:nvPr/>
        </p:nvSpPr>
        <p:spPr>
          <a:xfrm>
            <a:off x="6949440" y="3493008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maximum DPDP penalty for failing to keep reasonable security safeguards</a:t>
            </a:r>
            <a:endParaRPr lang="en-US" sz="1100" dirty="0"/>
          </a:p>
        </p:txBody>
      </p:sp>
      <p:sp>
        <p:nvSpPr>
          <p:cNvPr id="18" name="Sources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Check Point Research via tele.net (Sep 2024); Comparitech via Cybersecurity Dive (Feb 2026); IBM Cost of a Data Breach 2025 (India); PIB, DPDP Rules 2025 (notified 14 Nov 2025)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a secure vault</a:t>
            </a:r>
            <a:endParaRPr lang="en-US" sz="3600" dirty="0"/>
          </a:p>
        </p:txBody>
      </p:sp>
      <p:sp>
        <p:nvSpPr>
          <p:cNvPr id="3" name="Row A label"/>
          <p:cNvSpPr txBox="1"/>
          <p:nvPr/>
        </p:nvSpPr>
        <p:spPr>
          <a:xfrm>
            <a:off x="54864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A. STORING A DOCUMENT</a:t>
            </a:r>
            <a:endParaRPr lang="en-US" sz="1200" dirty="0"/>
          </a:p>
        </p:txBody>
      </p:sp>
      <p:sp>
        <p:nvSpPr>
          <p:cNvPr id="4" name="Step A1"/>
          <p:cNvSpPr/>
          <p:nvPr/>
        </p:nvSpPr>
        <p:spPr>
          <a:xfrm>
            <a:off x="548640" y="155448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5" name="Step A1 text"/>
          <p:cNvSpPr txBox="1"/>
          <p:nvPr/>
        </p:nvSpPr>
        <p:spPr>
          <a:xfrm>
            <a:off x="621792" y="15544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1. Sign in with password + OTP</a:t>
            </a:r>
            <a:endParaRPr lang="en-US" sz="1400" dirty="0"/>
          </a:p>
        </p:txBody>
      </p:sp>
      <p:sp>
        <p:nvSpPr>
          <p:cNvPr id="6" name="Flow arrow"/>
          <p:cNvSpPr/>
          <p:nvPr/>
        </p:nvSpPr>
        <p:spPr>
          <a:xfrm>
            <a:off x="2258568" y="1943100"/>
            <a:ext cx="3749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tep A2"/>
          <p:cNvSpPr/>
          <p:nvPr/>
        </p:nvSpPr>
        <p:spPr>
          <a:xfrm>
            <a:off x="2651760" y="155448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8" name="Step A2 text"/>
          <p:cNvSpPr txBox="1"/>
          <p:nvPr/>
        </p:nvSpPr>
        <p:spPr>
          <a:xfrm>
            <a:off x="2724912" y="15544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2. Validate file type and size</a:t>
            </a:r>
            <a:endParaRPr lang="en-US" sz="1400" dirty="0"/>
          </a:p>
        </p:txBody>
      </p:sp>
      <p:sp>
        <p:nvSpPr>
          <p:cNvPr id="9" name="Flow arrow"/>
          <p:cNvSpPr/>
          <p:nvPr/>
        </p:nvSpPr>
        <p:spPr>
          <a:xfrm>
            <a:off x="4361688" y="1943100"/>
            <a:ext cx="3749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tep A3"/>
          <p:cNvSpPr/>
          <p:nvPr/>
        </p:nvSpPr>
        <p:spPr>
          <a:xfrm>
            <a:off x="4754880" y="155448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11" name="Step A3 text"/>
          <p:cNvSpPr txBox="1"/>
          <p:nvPr/>
        </p:nvSpPr>
        <p:spPr>
          <a:xfrm>
            <a:off x="4828032" y="15544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3. Encrypt (AES-256) and hash (SHA-256)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6464808" y="1943100"/>
            <a:ext cx="3749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tep A4"/>
          <p:cNvSpPr/>
          <p:nvPr/>
        </p:nvSpPr>
        <p:spPr>
          <a:xfrm>
            <a:off x="6858000" y="155448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14" name="Step A4 text"/>
          <p:cNvSpPr txBox="1"/>
          <p:nvPr/>
        </p:nvSpPr>
        <p:spPr>
          <a:xfrm>
            <a:off x="6931152" y="15544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4. Save in encrypted vault</a:t>
            </a:r>
            <a:endParaRPr lang="en-US" sz="1400" dirty="0"/>
          </a:p>
        </p:txBody>
      </p:sp>
      <p:sp>
        <p:nvSpPr>
          <p:cNvPr id="15" name="Row B label"/>
          <p:cNvSpPr txBox="1"/>
          <p:nvPr/>
        </p:nvSpPr>
        <p:spPr>
          <a:xfrm>
            <a:off x="54864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B. ACCESSING A DOCUMENT</a:t>
            </a:r>
            <a:endParaRPr lang="en-US" sz="1200" dirty="0"/>
          </a:p>
        </p:txBody>
      </p:sp>
      <p:sp>
        <p:nvSpPr>
          <p:cNvPr id="16" name="Step B1"/>
          <p:cNvSpPr/>
          <p:nvPr/>
        </p:nvSpPr>
        <p:spPr>
          <a:xfrm>
            <a:off x="548640" y="283464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17" name="Step B1 text"/>
          <p:cNvSpPr txBox="1"/>
          <p:nvPr/>
        </p:nvSpPr>
        <p:spPr>
          <a:xfrm>
            <a:off x="621792" y="2834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5. Student or staff requests a file</a:t>
            </a:r>
            <a:endParaRPr lang="en-US" sz="1400" dirty="0"/>
          </a:p>
        </p:txBody>
      </p:sp>
      <p:sp>
        <p:nvSpPr>
          <p:cNvPr id="18" name="Flow arrow"/>
          <p:cNvSpPr/>
          <p:nvPr/>
        </p:nvSpPr>
        <p:spPr>
          <a:xfrm>
            <a:off x="2258568" y="3223260"/>
            <a:ext cx="3749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tep B2"/>
          <p:cNvSpPr/>
          <p:nvPr/>
        </p:nvSpPr>
        <p:spPr>
          <a:xfrm>
            <a:off x="2651760" y="283464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20" name="Step B2 text"/>
          <p:cNvSpPr txBox="1"/>
          <p:nvPr/>
        </p:nvSpPr>
        <p:spPr>
          <a:xfrm>
            <a:off x="2724912" y="2834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6. Role check: is access allowed?</a:t>
            </a:r>
            <a:endParaRPr lang="en-US" sz="1400" dirty="0"/>
          </a:p>
        </p:txBody>
      </p:sp>
      <p:sp>
        <p:nvSpPr>
          <p:cNvPr id="21" name="Flow arrow"/>
          <p:cNvSpPr/>
          <p:nvPr/>
        </p:nvSpPr>
        <p:spPr>
          <a:xfrm>
            <a:off x="4361688" y="3223260"/>
            <a:ext cx="3749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tep B3"/>
          <p:cNvSpPr/>
          <p:nvPr/>
        </p:nvSpPr>
        <p:spPr>
          <a:xfrm>
            <a:off x="4754880" y="283464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23" name="Step B3 text"/>
          <p:cNvSpPr txBox="1"/>
          <p:nvPr/>
        </p:nvSpPr>
        <p:spPr>
          <a:xfrm>
            <a:off x="4828032" y="2834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7. Decrypt and re-check the hash</a:t>
            </a:r>
            <a:endParaRPr lang="en-US" sz="1400" dirty="0"/>
          </a:p>
        </p:txBody>
      </p:sp>
      <p:sp>
        <p:nvSpPr>
          <p:cNvPr id="24" name="Flow arrow"/>
          <p:cNvSpPr/>
          <p:nvPr/>
        </p:nvSpPr>
        <p:spPr>
          <a:xfrm>
            <a:off x="6464808" y="3223260"/>
            <a:ext cx="37490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tep B4"/>
          <p:cNvSpPr/>
          <p:nvPr/>
        </p:nvSpPr>
        <p:spPr>
          <a:xfrm>
            <a:off x="6858000" y="2834640"/>
            <a:ext cx="169164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26" name="Step B4 text"/>
          <p:cNvSpPr txBox="1"/>
          <p:nvPr/>
        </p:nvSpPr>
        <p:spPr>
          <a:xfrm>
            <a:off x="6931152" y="2834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8. Deliver the file</a:t>
            </a:r>
            <a:endParaRPr lang="en-US" sz="1400" dirty="0"/>
          </a:p>
        </p:txBody>
      </p:sp>
      <p:sp>
        <p:nvSpPr>
          <p:cNvPr id="27" name="Flow arrow"/>
          <p:cNvSpPr/>
          <p:nvPr/>
        </p:nvSpPr>
        <p:spPr>
          <a:xfrm>
            <a:off x="5600700" y="3630168"/>
            <a:ext cx="0" cy="1645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Block box"/>
          <p:cNvSpPr/>
          <p:nvPr/>
        </p:nvSpPr>
        <p:spPr>
          <a:xfrm>
            <a:off x="4549140" y="3813048"/>
            <a:ext cx="21031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29" name="Block text"/>
          <p:cNvSpPr txBox="1"/>
          <p:nvPr/>
        </p:nvSpPr>
        <p:spPr>
          <a:xfrm>
            <a:off x="4549140" y="3813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Mismatch: block + alert</a:t>
            </a:r>
            <a:endParaRPr lang="en-US" sz="1400" dirty="0"/>
          </a:p>
        </p:txBody>
      </p:sp>
      <p:sp>
        <p:nvSpPr>
          <p:cNvPr id="30" name="Audit bar"/>
          <p:cNvSpPr/>
          <p:nvPr/>
        </p:nvSpPr>
        <p:spPr>
          <a:xfrm>
            <a:off x="548640" y="438912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1" name="Audit text"/>
          <p:cNvSpPr txBox="1"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Every step above is written to a tamper-evident audit log reviewed by the registrar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Prototype: SecureDocs Vault</a:t>
            </a:r>
            <a:endParaRPr lang="en-US" sz="3600" dirty="0"/>
          </a:p>
        </p:txBody>
      </p:sp>
      <p:pic>
        <p:nvPicPr>
          <p:cNvPr id="3" name="Image 0" descr="Screenshot of the SecureDocs Vault prototype showing encrypted documents, a tampered file flagged, and an audit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94960" cy="2676406"/>
          </a:xfrm>
          <a:prstGeom prst="rect">
            <a:avLst/>
          </a:prstGeom>
        </p:spPr>
      </p:pic>
      <p:sp>
        <p:nvSpPr>
          <p:cNvPr id="4" name="Prototype caption"/>
          <p:cNvSpPr txBox="1"/>
          <p:nvPr/>
        </p:nvSpPr>
        <p:spPr>
          <a:xfrm>
            <a:off x="548640" y="418516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Working web prototype (securedocs_vault.html), runs in any modern browser</a:t>
            </a:r>
            <a:endParaRPr lang="en-US" sz="1200" dirty="0"/>
          </a:p>
        </p:txBody>
      </p:sp>
      <p:sp>
        <p:nvSpPr>
          <p:cNvPr id="5" name="Feature card 1"/>
          <p:cNvSpPr/>
          <p:nvPr/>
        </p:nvSpPr>
        <p:spPr>
          <a:xfrm>
            <a:off x="6217920" y="137160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6" name="Feature text 1"/>
          <p:cNvSpPr txBox="1"/>
          <p:nvPr/>
        </p:nvSpPr>
        <p:spPr>
          <a:xfrm>
            <a:off x="6355080" y="1371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Password + one-time code login; failed attempts are logged</a:t>
            </a:r>
            <a:endParaRPr lang="en-US" sz="1400" dirty="0"/>
          </a:p>
        </p:txBody>
      </p:sp>
      <p:sp>
        <p:nvSpPr>
          <p:cNvPr id="7" name="Feature card 2"/>
          <p:cNvSpPr/>
          <p:nvPr/>
        </p:nvSpPr>
        <p:spPr>
          <a:xfrm>
            <a:off x="6217920" y="242316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8" name="Feature text 2"/>
          <p:cNvSpPr txBox="1"/>
          <p:nvPr/>
        </p:nvSpPr>
        <p:spPr>
          <a:xfrm>
            <a:off x="6355080" y="2423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Files encrypted with AES-256-GCM and fingerprinted with SHA-256</a:t>
            </a:r>
            <a:endParaRPr lang="en-US" sz="1400" dirty="0"/>
          </a:p>
        </p:txBody>
      </p:sp>
      <p:sp>
        <p:nvSpPr>
          <p:cNvPr id="9" name="Feature card 3"/>
          <p:cNvSpPr/>
          <p:nvPr/>
        </p:nvSpPr>
        <p:spPr>
          <a:xfrm>
            <a:off x="6217920" y="347472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Feature text 3"/>
          <p:cNvSpPr txBox="1"/>
          <p:nvPr/>
        </p:nvSpPr>
        <p:spPr>
          <a:xfrm>
            <a:off x="6355080" y="34747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one-byte change is caught as TAMPERED; all actions are audited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Campus">
  <a:themeElements>
    <a:clrScheme name="CyberCampus">
      <a:dk1>
        <a:srgbClr val="0B1F33"/>
      </a:dk1>
      <a:lt1>
        <a:srgbClr val="FFFFFF"/>
      </a:lt1>
      <a:dk2>
        <a:srgbClr val="16405F"/>
      </a:dk2>
      <a:lt2>
        <a:srgbClr val="EAF2F6"/>
      </a:lt2>
      <a:accent1>
        <a:srgbClr val="00A896"/>
      </a:accent1>
      <a:accent2>
        <a:srgbClr val="F2A541"/>
      </a:accent2>
      <a:accent3>
        <a:srgbClr val="E4572E"/>
      </a:accent3>
      <a:accent4>
        <a:srgbClr val="3A86C8"/>
      </a:accent4>
      <a:accent5>
        <a:srgbClr val="5F7384"/>
      </a:accent5>
      <a:accent6>
        <a:srgbClr val="02C39A"/>
      </a:accent6>
      <a:hlink>
        <a:srgbClr val="3A86C8"/>
      </a:hlink>
      <a:folHlink>
        <a:srgbClr val="5F7384"/>
      </a:folHlink>
    </a:clrScheme>
    <a:fontScheme name="CyberCamp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Document Management and Cyber Security</dc:title>
  <dc:subject>PptxGenJS Presentation</dc:subject>
  <dc:creator>Sivapriya</dc:creator>
  <cp:lastModifiedBy>Sivapriya</cp:lastModifiedBy>
  <cp:revision>1</cp:revision>
  <dcterms:created xsi:type="dcterms:W3CDTF">2026-10-08T04:38:42Z</dcterms:created>
  <dcterms:modified xsi:type="dcterms:W3CDTF">2026-10-08T04:38:42Z</dcterms:modified>
</cp:coreProperties>
</file>